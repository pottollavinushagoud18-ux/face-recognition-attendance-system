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4630400" cy="8229600"/>
  <p:notesSz cx="8229600" cy="146304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IBM Plex Sans Light" panose="020B0403050203000203" pitchFamily="34" charset="0"/>
      <p:regular r:id="rId17"/>
    </p:embeddedFont>
    <p:embeddedFont>
      <p:font typeface="IBM Plex Sans Medium" panose="020B0603050203000203" pitchFamily="34" charset="0"/>
      <p:regular r:id="rId18"/>
    </p:embeddedFont>
    <p:embeddedFont>
      <p:font typeface="Roboto" panose="02000000000000000000" pitchFamily="2" charset="0"/>
      <p:regular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61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180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670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4181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397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0602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976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6445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619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4279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451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0843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70520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865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821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8620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06682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2855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247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215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982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439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018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1794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422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3533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819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97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741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79" y="589717"/>
            <a:ext cx="5816441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FACE RECOGNITION BASED ATTENDANCE SYSTEM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49379" y="2682716"/>
            <a:ext cx="5816441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Automated Attendance Tracking using Computer Vision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749379" y="4609743"/>
            <a:ext cx="5816441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9379" y="5193268"/>
            <a:ext cx="5816441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Vinusha Goud </a:t>
            </a:r>
            <a:r>
              <a:rPr lang="en-US" sz="24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Pottolla</a:t>
            </a: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(ROLL ID:00941796)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9379" y="5610820"/>
            <a:ext cx="5816441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Veerendra </a:t>
            </a:r>
            <a:r>
              <a:rPr lang="en-US" sz="24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nadh</a:t>
            </a: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Matsa  (ROLL ID: 00946012)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9379" y="6028373"/>
            <a:ext cx="5816441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Lakshmidhar Yadlapalli (Roll ID: 00964282)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9379" y="6611898"/>
            <a:ext cx="5816441" cy="10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Course:</a:t>
            </a: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DSCI-6612-02</a:t>
            </a:r>
            <a:endParaRPr lang="en-US" sz="16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Professor:</a:t>
            </a: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Vahid </a:t>
            </a:r>
            <a:r>
              <a:rPr lang="en-US" sz="24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Behzadan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730"/>
    </mc:Choice>
    <mc:Fallback xmlns="">
      <p:transition spd="slow" advTm="2917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8237"/>
            <a:ext cx="294548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🔍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540913"/>
            <a:ext cx="11476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Problems in </a:t>
            </a: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Traditional Attendance Systems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589853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5" name="Text 3"/>
          <p:cNvSpPr/>
          <p:nvPr/>
        </p:nvSpPr>
        <p:spPr>
          <a:xfrm>
            <a:off x="1020604" y="3816668"/>
            <a:ext cx="5567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Manual attendance is slow and error-prone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3589853"/>
            <a:ext cx="6408063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7" name="Text 5"/>
          <p:cNvSpPr/>
          <p:nvPr/>
        </p:nvSpPr>
        <p:spPr>
          <a:xfrm>
            <a:off x="7655362" y="3816668"/>
            <a:ext cx="3741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Proxy attendance is common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624626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9" name="Text 7"/>
          <p:cNvSpPr/>
          <p:nvPr/>
        </p:nvSpPr>
        <p:spPr>
          <a:xfrm>
            <a:off x="1020604" y="4851440"/>
            <a:ext cx="43886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Paper records are hard to manage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28548" y="4624626"/>
            <a:ext cx="6408063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1" name="Text 9"/>
          <p:cNvSpPr/>
          <p:nvPr/>
        </p:nvSpPr>
        <p:spPr>
          <a:xfrm>
            <a:off x="7655362" y="4851440"/>
            <a:ext cx="40400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Wastes 5–10 minutes per class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68773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507" y="687168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💡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5334" y="1262219"/>
            <a:ext cx="8710374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Automated Face Recognition </a:t>
            </a: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Attendance System</a:t>
            </a:r>
            <a:endParaRPr lang="en-US" sz="3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2363959"/>
            <a:ext cx="7187306" cy="49175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786" y="2764552"/>
            <a:ext cx="255151" cy="255151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6" name="Text 3"/>
          <p:cNvSpPr/>
          <p:nvPr/>
        </p:nvSpPr>
        <p:spPr>
          <a:xfrm>
            <a:off x="1340286" y="2799913"/>
            <a:ext cx="224980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Recognizes faces in real time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971787" y="3260685"/>
            <a:ext cx="255151" cy="255151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8" name="Text 5"/>
          <p:cNvSpPr/>
          <p:nvPr/>
        </p:nvSpPr>
        <p:spPr>
          <a:xfrm>
            <a:off x="1340286" y="3281878"/>
            <a:ext cx="260389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Marks attendance in 2–3 seconds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971787" y="3742650"/>
            <a:ext cx="255151" cy="255151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0" name="Text 7"/>
          <p:cNvSpPr/>
          <p:nvPr/>
        </p:nvSpPr>
        <p:spPr>
          <a:xfrm>
            <a:off x="1340286" y="3763843"/>
            <a:ext cx="208311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Prevents proxy attendance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971787" y="4224615"/>
            <a:ext cx="255151" cy="255151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2" name="Text 9"/>
          <p:cNvSpPr/>
          <p:nvPr/>
        </p:nvSpPr>
        <p:spPr>
          <a:xfrm>
            <a:off x="1340286" y="4245808"/>
            <a:ext cx="178950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Stores records digitally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96835" y="9278422"/>
            <a:ext cx="255151" cy="255151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4" name="Text 11"/>
          <p:cNvSpPr/>
          <p:nvPr/>
        </p:nvSpPr>
        <p:spPr>
          <a:xfrm>
            <a:off x="765334" y="9299615"/>
            <a:ext cx="268295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Improves accuracy and saves time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6835" y="9661088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750" y="372189"/>
            <a:ext cx="16919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🧰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Technology Stack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solidFill>
                <a:srgbClr val="F3F3F2"/>
              </a:solidFill>
              <a:latin typeface="IBM Plex Sans Medium" pitchFamily="34" charset="0"/>
              <a:ea typeface="IBM Plex Sans Medium" pitchFamily="34" charset="-122"/>
              <a:cs typeface="IBM Plex Sans Medium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solidFill>
                <a:srgbClr val="F3F3F2"/>
              </a:solidFill>
              <a:latin typeface="IBM Plex Sans Medium" pitchFamily="34" charset="0"/>
              <a:ea typeface="IBM Plex Sans Medium" pitchFamily="34" charset="-122"/>
              <a:cs typeface="IBM Plex Sans Medium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solidFill>
                <a:srgbClr val="F3F3F2"/>
              </a:solidFill>
              <a:latin typeface="IBM Plex Sans Medium" pitchFamily="34" charset="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solidFill>
                <a:srgbClr val="F3F3F2"/>
              </a:solidFill>
              <a:latin typeface="IBM Plex Sans Medium" pitchFamily="34" charset="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solidFill>
                <a:srgbClr val="F3F3F2"/>
              </a:solidFill>
              <a:latin typeface="IBM Plex Sans Medium" pitchFamily="34" charset="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3746" y="1469055"/>
            <a:ext cx="2102763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Languages &amp; Libraries: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3750" y="1979806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3750" y="2370833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3746" y="2742964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face_recognition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3747" y="3115095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NumPy, Pandas, Pillow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3748" y="3505914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Tkinter (GUI)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750" y="4243963"/>
            <a:ext cx="2030373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Algorithms: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3749" y="4905255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Haar Cascade (Detection)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3750" y="5385673"/>
            <a:ext cx="6676311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LBPH (Recognition)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059" y="856774"/>
            <a:ext cx="4969395" cy="496939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3750" y="9409033"/>
            <a:ext cx="1368290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703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🌟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Key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097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</a:t>
            </a: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Capabilities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898815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292C32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5" name="Shape 3"/>
          <p:cNvSpPr/>
          <p:nvPr/>
        </p:nvSpPr>
        <p:spPr>
          <a:xfrm>
            <a:off x="793790" y="286833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6" name="Shape 4"/>
          <p:cNvSpPr/>
          <p:nvPr/>
        </p:nvSpPr>
        <p:spPr>
          <a:xfrm>
            <a:off x="2551688" y="255865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7" name="Text 5"/>
          <p:cNvSpPr/>
          <p:nvPr/>
        </p:nvSpPr>
        <p:spPr>
          <a:xfrm>
            <a:off x="2755761" y="272879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346579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Student Registration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051084" y="402717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images per student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2898815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292C32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1" name="Shape 9"/>
          <p:cNvSpPr/>
          <p:nvPr/>
        </p:nvSpPr>
        <p:spPr>
          <a:xfrm>
            <a:off x="5216962" y="286833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74860" y="255865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3" name="Text 11"/>
          <p:cNvSpPr/>
          <p:nvPr/>
        </p:nvSpPr>
        <p:spPr>
          <a:xfrm>
            <a:off x="7178933" y="272879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3465790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Automatic Model Training</a:t>
            </a:r>
            <a:endParaRPr lang="en-US" sz="2650" dirty="0"/>
          </a:p>
        </p:txBody>
      </p:sp>
      <p:sp>
        <p:nvSpPr>
          <p:cNvPr id="15" name="Shape 13"/>
          <p:cNvSpPr/>
          <p:nvPr/>
        </p:nvSpPr>
        <p:spPr>
          <a:xfrm>
            <a:off x="9640133" y="2898815"/>
            <a:ext cx="4196358" cy="1748552"/>
          </a:xfrm>
          <a:prstGeom prst="roundRect">
            <a:avLst>
              <a:gd name="adj" fmla="val 8367"/>
            </a:avLst>
          </a:prstGeom>
          <a:solidFill>
            <a:srgbClr val="292C32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640133" y="286833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1398032" y="255865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602105" y="272879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465790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Real-time Face Recognition</a:t>
            </a:r>
            <a:endParaRPr lang="en-US" sz="2650" dirty="0"/>
          </a:p>
        </p:txBody>
      </p:sp>
      <p:sp>
        <p:nvSpPr>
          <p:cNvPr id="20" name="Shape 18"/>
          <p:cNvSpPr/>
          <p:nvPr/>
        </p:nvSpPr>
        <p:spPr>
          <a:xfrm>
            <a:off x="793790" y="5214342"/>
            <a:ext cx="6407944" cy="1249561"/>
          </a:xfrm>
          <a:prstGeom prst="roundRect">
            <a:avLst>
              <a:gd name="adj" fmla="val 11708"/>
            </a:avLst>
          </a:prstGeom>
          <a:solidFill>
            <a:srgbClr val="292C32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93790" y="518386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540" y="487418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23" name="Text 21"/>
          <p:cNvSpPr/>
          <p:nvPr/>
        </p:nvSpPr>
        <p:spPr>
          <a:xfrm>
            <a:off x="3861614" y="504432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51084" y="5781318"/>
            <a:ext cx="394454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 Attendance Marking</a:t>
            </a:r>
            <a:endParaRPr lang="en-US" sz="2650" dirty="0"/>
          </a:p>
        </p:txBody>
      </p:sp>
      <p:sp>
        <p:nvSpPr>
          <p:cNvPr id="25" name="Shape 23"/>
          <p:cNvSpPr/>
          <p:nvPr/>
        </p:nvSpPr>
        <p:spPr>
          <a:xfrm>
            <a:off x="7428548" y="5214342"/>
            <a:ext cx="6407944" cy="1249561"/>
          </a:xfrm>
          <a:prstGeom prst="roundRect">
            <a:avLst>
              <a:gd name="adj" fmla="val 11708"/>
            </a:avLst>
          </a:prstGeom>
          <a:solidFill>
            <a:srgbClr val="292C32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428548" y="518386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292298" y="487418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496371" y="504432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685842" y="5781318"/>
            <a:ext cx="45327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CSV/Excel Report Generation</a:t>
            </a:r>
            <a:endParaRPr lang="en-US" sz="2650" dirty="0"/>
          </a:p>
        </p:txBody>
      </p:sp>
      <p:sp>
        <p:nvSpPr>
          <p:cNvPr id="30" name="Text 28"/>
          <p:cNvSpPr/>
          <p:nvPr/>
        </p:nvSpPr>
        <p:spPr>
          <a:xfrm>
            <a:off x="793790" y="671905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020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🖥️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GUI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626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Main Buttons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611636"/>
            <a:ext cx="6407944" cy="1786176"/>
          </a:xfrm>
          <a:prstGeom prst="roundRect">
            <a:avLst>
              <a:gd name="adj" fmla="val 1905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5" name="Shape 3"/>
          <p:cNvSpPr/>
          <p:nvPr/>
        </p:nvSpPr>
        <p:spPr>
          <a:xfrm>
            <a:off x="1020604" y="28384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02549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37457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Take Images</a:t>
            </a:r>
            <a:endParaRPr lang="en-US" sz="2650" dirty="0"/>
          </a:p>
        </p:txBody>
      </p:sp>
      <p:sp>
        <p:nvSpPr>
          <p:cNvPr id="8" name="Shape 5"/>
          <p:cNvSpPr/>
          <p:nvPr/>
        </p:nvSpPr>
        <p:spPr>
          <a:xfrm>
            <a:off x="7428548" y="2611636"/>
            <a:ext cx="6408063" cy="1786176"/>
          </a:xfrm>
          <a:prstGeom prst="roundRect">
            <a:avLst>
              <a:gd name="adj" fmla="val 1905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9" name="Shape 6"/>
          <p:cNvSpPr/>
          <p:nvPr/>
        </p:nvSpPr>
        <p:spPr>
          <a:xfrm>
            <a:off x="7655362" y="28384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02549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7457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Train Images</a:t>
            </a:r>
            <a:endParaRPr lang="en-US" sz="2650" dirty="0"/>
          </a:p>
        </p:txBody>
      </p:sp>
      <p:sp>
        <p:nvSpPr>
          <p:cNvPr id="12" name="Shape 8"/>
          <p:cNvSpPr/>
          <p:nvPr/>
        </p:nvSpPr>
        <p:spPr>
          <a:xfrm>
            <a:off x="793790" y="4624626"/>
            <a:ext cx="6407944" cy="1786176"/>
          </a:xfrm>
          <a:prstGeom prst="roundRect">
            <a:avLst>
              <a:gd name="adj" fmla="val 1905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20604" y="48514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038487"/>
            <a:ext cx="306110" cy="306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0604" y="5758696"/>
            <a:ext cx="34863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Automatic Attendance</a:t>
            </a:r>
            <a:endParaRPr lang="en-US" sz="2650" dirty="0"/>
          </a:p>
        </p:txBody>
      </p:sp>
      <p:sp>
        <p:nvSpPr>
          <p:cNvPr id="16" name="Shape 11"/>
          <p:cNvSpPr/>
          <p:nvPr/>
        </p:nvSpPr>
        <p:spPr>
          <a:xfrm>
            <a:off x="7428548" y="4624626"/>
            <a:ext cx="6408063" cy="1786176"/>
          </a:xfrm>
          <a:prstGeom prst="roundRect">
            <a:avLst>
              <a:gd name="adj" fmla="val 1905"/>
            </a:avLst>
          </a:prstGeom>
          <a:solidFill>
            <a:srgbClr val="484B51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7" name="Shape 12"/>
          <p:cNvSpPr/>
          <p:nvPr/>
        </p:nvSpPr>
        <p:spPr>
          <a:xfrm>
            <a:off x="7655362" y="48514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038487"/>
            <a:ext cx="306110" cy="3061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55362" y="57586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View Attendance</a:t>
            </a:r>
            <a:endParaRPr lang="en-US" sz="2650" dirty="0"/>
          </a:p>
        </p:txBody>
      </p:sp>
      <p:sp>
        <p:nvSpPr>
          <p:cNvPr id="20" name="Text 14"/>
          <p:cNvSpPr/>
          <p:nvPr/>
        </p:nvSpPr>
        <p:spPr>
          <a:xfrm>
            <a:off x="793790" y="666595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589836"/>
            <a:ext cx="2909888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🧑‍🎓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Registration Process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50689" y="1025962"/>
            <a:ext cx="5362813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Steps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89" y="2339697"/>
            <a:ext cx="6457236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121" y="3197662"/>
            <a:ext cx="4042886" cy="40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Enter Student ID and Name</a:t>
            </a:r>
            <a:endParaRPr lang="en-US" sz="2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356" y="2017990"/>
            <a:ext cx="6457355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6788" y="2875955"/>
            <a:ext cx="3217664" cy="40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Capture 200 images</a:t>
            </a:r>
            <a:endParaRPr lang="en-US" sz="2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89" y="4350425"/>
            <a:ext cx="6457236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5121" y="5208389"/>
            <a:ext cx="3217664" cy="40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Train the model</a:t>
            </a:r>
            <a:endParaRPr lang="en-US" sz="2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356" y="4028718"/>
            <a:ext cx="6457355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36788" y="4886682"/>
            <a:ext cx="3304580" cy="40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Add student to system</a:t>
            </a:r>
            <a:endParaRPr lang="en-US" sz="2500" dirty="0"/>
          </a:p>
        </p:txBody>
      </p:sp>
      <p:sp>
        <p:nvSpPr>
          <p:cNvPr id="12" name="Shape 6"/>
          <p:cNvSpPr/>
          <p:nvPr/>
        </p:nvSpPr>
        <p:spPr>
          <a:xfrm>
            <a:off x="750689" y="6066234"/>
            <a:ext cx="13129022" cy="911423"/>
          </a:xfrm>
          <a:prstGeom prst="roundRect">
            <a:avLst>
              <a:gd name="adj" fmla="val 3530"/>
            </a:avLst>
          </a:prstGeom>
          <a:solidFill>
            <a:srgbClr val="4D1F00"/>
          </a:solidFill>
          <a:ln/>
        </p:spPr>
        <p:txBody>
          <a:bodyPr/>
          <a:lstStyle/>
          <a:p>
            <a:pPr algn="l"/>
            <a:endParaRPr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21" y="6390442"/>
            <a:ext cx="268129" cy="2144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47681" y="6334244"/>
            <a:ext cx="1221759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Required:</a:t>
            </a: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~2–3 minutes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750689" y="7218878"/>
            <a:ext cx="13129022" cy="42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925" y="426482"/>
            <a:ext cx="206990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⏱️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Attendance Marking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2925" y="738545"/>
            <a:ext cx="3877985" cy="48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How It </a:t>
            </a: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Works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542925" y="1630323"/>
            <a:ext cx="155019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2925" y="1870948"/>
            <a:ext cx="7975283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6" name="Text 4"/>
          <p:cNvSpPr/>
          <p:nvPr/>
        </p:nvSpPr>
        <p:spPr>
          <a:xfrm>
            <a:off x="542925" y="1994178"/>
            <a:ext cx="3152656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Click "Automatic Attendance"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2925" y="2556272"/>
            <a:ext cx="155019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2925" y="2796897"/>
            <a:ext cx="7975283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9" name="Text 7"/>
          <p:cNvSpPr/>
          <p:nvPr/>
        </p:nvSpPr>
        <p:spPr>
          <a:xfrm>
            <a:off x="542925" y="2920127"/>
            <a:ext cx="3835122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Camera detects and recognizes face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2925" y="3482221"/>
            <a:ext cx="155019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2925" y="3722846"/>
            <a:ext cx="7975283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2925" y="3846076"/>
            <a:ext cx="2802969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Logs ID, Name, Date, 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2925" y="4408170"/>
            <a:ext cx="155019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2925" y="4648795"/>
            <a:ext cx="7975283" cy="2286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2925" y="4772025"/>
            <a:ext cx="2484596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Saves CSV file instantly</a:t>
            </a:r>
            <a:endParaRPr lang="en-US" sz="18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208" y="1630323"/>
            <a:ext cx="5190768" cy="51907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04208" y="6995517"/>
            <a:ext cx="5190768" cy="66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~2–3 seconds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8904208" y="7819430"/>
            <a:ext cx="5190768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student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2925" y="8381524"/>
            <a:ext cx="1354455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0839"/>
            <a:ext cx="305740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📊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Evaluation &amp; Testing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403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Performance </a:t>
            </a: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Metrics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565803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92%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00113" y="4597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Recognition Accuracy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356580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2.5s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597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Average Time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56580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5%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7563326" y="4597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False Positive Rate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356580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80%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894933" y="4597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Faster than manual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2070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Tested on 20–30 students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82513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133" y="534948"/>
            <a:ext cx="3237667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🚀</a:t>
            </a: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Conclusion &amp; Future Work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79133" y="923211"/>
            <a:ext cx="4851440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2400" dirty="0">
                <a:solidFill>
                  <a:srgbClr val="FFBC8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9133" y="1820585"/>
            <a:ext cx="668845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 automated attendance system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9133" y="2198965"/>
            <a:ext cx="668845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and fast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79133" y="2577346"/>
            <a:ext cx="668845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User-friendly GUI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9133" y="2955727"/>
            <a:ext cx="668845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class time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9133" y="3334107"/>
            <a:ext cx="668845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and efficient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9133" y="3935611"/>
            <a:ext cx="4021217" cy="48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Enhancements:</a:t>
            </a:r>
            <a:endParaRPr lang="en-US" sz="3050" dirty="0"/>
          </a:p>
        </p:txBody>
      </p:sp>
      <p:sp>
        <p:nvSpPr>
          <p:cNvPr id="11" name="Shape 8"/>
          <p:cNvSpPr/>
          <p:nvPr/>
        </p:nvSpPr>
        <p:spPr>
          <a:xfrm>
            <a:off x="679133" y="4814888"/>
            <a:ext cx="96917" cy="96917"/>
          </a:xfrm>
          <a:prstGeom prst="roundRect">
            <a:avLst>
              <a:gd name="adj" fmla="val 471744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2" name="Text 9"/>
          <p:cNvSpPr/>
          <p:nvPr/>
        </p:nvSpPr>
        <p:spPr>
          <a:xfrm>
            <a:off x="970002" y="4711779"/>
            <a:ext cx="2554129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Mobile App Integration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79133" y="5506045"/>
            <a:ext cx="96917" cy="96917"/>
          </a:xfrm>
          <a:prstGeom prst="roundRect">
            <a:avLst>
              <a:gd name="adj" fmla="val 471744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4" name="Text 11"/>
          <p:cNvSpPr/>
          <p:nvPr/>
        </p:nvSpPr>
        <p:spPr>
          <a:xfrm>
            <a:off x="970002" y="5402937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Cloud Storage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79133" y="6197203"/>
            <a:ext cx="96917" cy="96917"/>
          </a:xfrm>
          <a:prstGeom prst="roundRect">
            <a:avLst>
              <a:gd name="adj" fmla="val 471744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6" name="Text 13"/>
          <p:cNvSpPr/>
          <p:nvPr/>
        </p:nvSpPr>
        <p:spPr>
          <a:xfrm>
            <a:off x="970002" y="6094095"/>
            <a:ext cx="24991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Multi-face Recognition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9133" y="6888361"/>
            <a:ext cx="96917" cy="96917"/>
          </a:xfrm>
          <a:prstGeom prst="roundRect">
            <a:avLst>
              <a:gd name="adj" fmla="val 471744"/>
            </a:avLst>
          </a:prstGeom>
          <a:solidFill>
            <a:srgbClr val="FFBC8F"/>
          </a:solidFill>
          <a:ln/>
        </p:spPr>
        <p:txBody>
          <a:bodyPr/>
          <a:lstStyle/>
          <a:p>
            <a:pPr algn="l"/>
            <a:endParaRPr/>
          </a:p>
        </p:txBody>
      </p:sp>
      <p:sp>
        <p:nvSpPr>
          <p:cNvPr id="18" name="Text 15"/>
          <p:cNvSpPr/>
          <p:nvPr/>
        </p:nvSpPr>
        <p:spPr>
          <a:xfrm>
            <a:off x="970002" y="6785253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Advanced Analytics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79133" y="7306628"/>
            <a:ext cx="6688455" cy="38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15"/>
    </mc:Choice>
    <mc:Fallback xmlns="">
      <p:transition spd="slow" advTm="46515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</TotalTime>
  <Words>313</Words>
  <Application>Microsoft Office PowerPoint</Application>
  <PresentationFormat>Custom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IBM Plex Sans Medium</vt:lpstr>
      <vt:lpstr>Century Gothic</vt:lpstr>
      <vt:lpstr>Wingdings 3</vt:lpstr>
      <vt:lpstr>IBM Plex Sans Light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VEERENDRA</dc:creator>
  <cp:lastModifiedBy>Matsa, Veerendra Nadh</cp:lastModifiedBy>
  <cp:revision>7</cp:revision>
  <dcterms:created xsi:type="dcterms:W3CDTF">2025-12-08T23:24:27Z</dcterms:created>
  <dcterms:modified xsi:type="dcterms:W3CDTF">2025-12-09T05:29:37Z</dcterms:modified>
</cp:coreProperties>
</file>